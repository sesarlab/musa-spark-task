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78"/>
  </p:normalViewPr>
  <p:slideViewPr>
    <p:cSldViewPr snapToGrid="0">
      <p:cViewPr varScale="1">
        <p:scale>
          <a:sx n="117" d="100"/>
          <a:sy n="117" d="100"/>
        </p:scale>
        <p:origin x="6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F443F-5C9A-DB4A-B9E0-3B27DA86D804}" type="datetimeFigureOut">
              <a:rPr lang="en-IT" smtClean="0"/>
              <a:t>14/07/24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25B4F-5C27-CB4B-BE41-D3F78DBDDB71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8093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930A-32F0-2A9C-1871-876B285B7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20F11-0B69-D34C-F36E-82B21559A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3CB1D-0A86-FF36-0B3A-6138AAFA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6DE1-610D-9A4F-8631-8F3B5F3AC9DA}" type="datetime1">
              <a:rPr lang="it-IT" smtClean="0"/>
              <a:t>14/07/24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3D34C-73DA-E283-D75A-48CC3516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13BE5-4590-6B65-360E-D7124064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7795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9AD6-9176-7D7F-016F-7D681A66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8035-5291-7EE0-6332-C8B8152C2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22777-67C1-3A3B-E868-7373AF47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98543-0EDB-7D40-A9A7-72CB746970CD}" type="datetime1">
              <a:rPr lang="it-IT" smtClean="0"/>
              <a:t>14/07/24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4713D-E8F5-4D80-8D99-77A98FA64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35002-2CC0-73E6-2079-E8A677F3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9729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910E-AAC1-308C-8A77-48473BD81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9BCA3-6B5B-619D-9976-7A5FE65CD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78322-4466-09E5-5ECA-A5C2FFA8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A4A-EEDD-5446-8DB7-8AA81752FB5C}" type="datetime1">
              <a:rPr lang="it-IT" smtClean="0"/>
              <a:t>14/07/24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884E4-72CE-C285-A823-DD1F5FF1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891B3-DDF5-004E-015C-7E9487A0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8655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232A-6075-869E-C2EF-104DA670F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5DE43-56C5-65F2-453F-B64CA7C7C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6AA31-56E2-FCCC-7C5D-57FC7ABCD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F3AB3-12CA-4B09-E666-E769B818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E2AF-DD9F-0145-B678-7714CA13881F}" type="datetime1">
              <a:rPr lang="it-IT" smtClean="0"/>
              <a:t>14/07/24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B8F68-1375-C477-B82A-56E393A5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F1860-8874-6122-009D-AD975EE4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6700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CA604-98DD-9C35-FCFA-1D82E151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5ACD2-B8E9-9444-3119-FD71D3A72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21135-A898-92C8-9BE6-54DC67F33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5FA55-BFD4-BFA3-9549-8865D860A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C83E5-C3E8-7067-3C34-4986F9BC3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5D920D-743F-6039-BAF6-60455333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DED0-9A2A-5F4B-8853-1AE814F866A0}" type="datetime1">
              <a:rPr lang="it-IT" smtClean="0"/>
              <a:t>14/07/24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A03AA-1FD8-4CA0-FC4C-B1B9519F9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C32BD-8CD8-C1AC-3555-6CFDC029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1755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EE81-B276-F435-D6E1-D46B504D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59780-BCFE-DCD7-9BB5-D54421595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A6E19-C48D-7845-9CB2-C77287161F29}" type="datetime1">
              <a:rPr lang="it-IT" smtClean="0"/>
              <a:t>14/07/24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7B7D5-7AC3-6EC0-FF39-56B6F185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DDDE4-EE23-1D95-D7F4-F48BBD85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12669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24750-17F2-BB37-8A5B-871AFF8A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AF02-D776-8C4C-BA14-25A95A0BBEFF}" type="datetime1">
              <a:rPr lang="it-IT" smtClean="0"/>
              <a:t>14/07/24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8F136-9F00-AAA9-1439-F0BBA7C7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C2D37-FB83-E43D-C535-29DAEFBB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6117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A512-A87C-344B-B88F-FE506344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5B37F-CD92-E2BF-730D-9128F9760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B43BE-BBDD-61DD-1F9E-3583C2DC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B30B2-41A4-57D0-CA46-EBB43196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8E987-8A1D-2144-B5BF-4FDE86BC0FD4}" type="datetime1">
              <a:rPr lang="it-IT" smtClean="0"/>
              <a:t>14/07/24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0349B-039A-92EF-5993-0B3C36F2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665B9-E58B-EF58-9C02-9DA2CACA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1961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E3C2-A1F4-29E1-FEA2-9716C942B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C1128-9840-712E-C6F6-82EC9FC96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01C37-D29E-E88B-0D55-96DC7DD1C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57AA-8097-413E-5769-E1C472B7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FC9D-7587-7E42-AE6E-7B5AFF5A1ED3}" type="datetime1">
              <a:rPr lang="it-IT" smtClean="0"/>
              <a:t>14/07/24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86337-BB2F-AE42-8942-7D429F8D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A8EDF-6805-FA94-C61B-C64A6F67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5991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5452-889D-82CD-9147-D5D63C32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B98E6-373A-E258-1FA8-70E043AF4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721FD-889B-B9F8-F50A-CF4E787E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F0F6B-405F-7546-B2EF-55FF9A742774}" type="datetime1">
              <a:rPr lang="it-IT" smtClean="0"/>
              <a:t>14/07/24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71125-1B50-14C2-B34D-8F267FB88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ABBA6-8BE0-ED5E-BED5-883064CB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2211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C2290A-E1E3-6C1A-2EC8-776BB239D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61179-AF1C-C83D-5DB7-B119B0223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E7219-EB87-3453-0254-16E29FE12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9F9FA-4C7B-F342-8623-E9125044FF01}" type="datetime1">
              <a:rPr lang="it-IT" smtClean="0"/>
              <a:t>14/07/24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DA261-CCFF-D220-C6A1-25A9E324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4376-183F-57FC-EBA8-1E70F1F3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1020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3E8F04-A0F2-28C0-7FD1-177A9347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02A50-E9F8-B508-F0CE-3A7E6657D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191B5-1430-B5A5-F1F1-6D1930A9C4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350CE-CF14-844A-AB2F-A7C1CDBFB93F}" type="datetime1">
              <a:rPr lang="it-IT" smtClean="0"/>
              <a:t>14/07/24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A9701-66A2-79B6-BE16-6DFC496ED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DFCDB-93F6-B6C4-9CC8-AD7438B8C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26FB3-71C4-1344-BD14-26986863CD6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5584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hyperlink" Target="https://musascarl.it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465E-7207-88AA-B699-11057DBE1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825172"/>
            <a:ext cx="9144000" cy="2387600"/>
          </a:xfrm>
        </p:spPr>
        <p:txBody>
          <a:bodyPr>
            <a:noAutofit/>
          </a:bodyPr>
          <a:lstStyle/>
          <a:p>
            <a: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  <a:t>Refactoring e </a:t>
            </a:r>
            <a:r>
              <a:rPr lang="en-GB" sz="38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implementazione</a:t>
            </a:r>
            <a: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GB" sz="38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servizi</a:t>
            </a:r>
            <a: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  <a:t> di Machine Learning per</a:t>
            </a:r>
            <a:b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GB" sz="38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l’analisi</a:t>
            </a:r>
            <a: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38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dati</a:t>
            </a:r>
            <a: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  <a:t> in un </a:t>
            </a:r>
            <a:r>
              <a:rPr lang="en-GB" sz="38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contesto</a:t>
            </a:r>
            <a: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38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distribuito</a:t>
            </a:r>
            <a: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38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basato</a:t>
            </a:r>
            <a: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38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su</a:t>
            </a:r>
            <a:r>
              <a:rPr lang="en-GB" sz="3800" dirty="0">
                <a:latin typeface="Baskerville" panose="02020502070401020303" pitchFamily="18" charset="0"/>
                <a:ea typeface="Baskerville" panose="02020502070401020303" pitchFamily="18" charset="0"/>
              </a:rPr>
              <a:t> Kubernetes</a:t>
            </a:r>
            <a:endParaRPr lang="en-IT" sz="38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BC367-5221-17F7-FB57-F82B19A90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414" y="4699002"/>
            <a:ext cx="11223171" cy="1734456"/>
          </a:xfrm>
        </p:spPr>
        <p:txBody>
          <a:bodyPr>
            <a:normAutofit/>
          </a:bodyPr>
          <a:lstStyle/>
          <a:p>
            <a:pPr algn="l"/>
            <a:r>
              <a:rPr lang="en-IT" b="1" dirty="0">
                <a:latin typeface="Baskerville" panose="02020502070401020303" pitchFamily="18" charset="0"/>
                <a:ea typeface="Baskerville" panose="02020502070401020303" pitchFamily="18" charset="0"/>
              </a:rPr>
              <a:t>Relatore: </a:t>
            </a:r>
            <a: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  <a:t>Prof. Claudio A. Ardagna</a:t>
            </a:r>
          </a:p>
          <a:p>
            <a:pPr algn="l"/>
            <a:r>
              <a:rPr lang="en-IT" b="1" dirty="0">
                <a:latin typeface="Baskerville" panose="02020502070401020303" pitchFamily="18" charset="0"/>
                <a:ea typeface="Baskerville" panose="02020502070401020303" pitchFamily="18" charset="0"/>
              </a:rPr>
              <a:t>Correlatori</a:t>
            </a:r>
          </a:p>
          <a:p>
            <a:pPr algn="l"/>
            <a: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  <a:t>Prof. Marco Anisetti</a:t>
            </a:r>
            <a:b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  <a:t>Dott. Antongiacomo Polimeno</a:t>
            </a:r>
          </a:p>
        </p:txBody>
      </p:sp>
      <p:pic>
        <p:nvPicPr>
          <p:cNvPr id="5" name="Picture 4" descr="A logo with text overlay&#10;&#10;Description automatically generated">
            <a:extLst>
              <a:ext uri="{FF2B5EF4-FFF2-40B4-BE49-F238E27FC236}">
                <a16:creationId xmlns:a16="http://schemas.microsoft.com/office/drawing/2014/main" id="{DE5BF71E-7021-80F4-E70C-24632AC6A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34" y="0"/>
            <a:ext cx="4633129" cy="18251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8D454C-B64A-4A2F-C6A0-F71F65CD162D}"/>
              </a:ext>
            </a:extLst>
          </p:cNvPr>
          <p:cNvSpPr txBox="1"/>
          <p:nvPr/>
        </p:nvSpPr>
        <p:spPr>
          <a:xfrm>
            <a:off x="8929260" y="5602461"/>
            <a:ext cx="2778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T" sz="2800" dirty="0">
                <a:latin typeface="Baskerville" panose="02020502070401020303" pitchFamily="18" charset="0"/>
                <a:ea typeface="Baskerville" panose="02020502070401020303" pitchFamily="18" charset="0"/>
              </a:rPr>
              <a:t>Gabriele Stentella</a:t>
            </a:r>
          </a:p>
          <a:p>
            <a:pPr algn="r"/>
            <a:r>
              <a:rPr lang="en-IT" sz="2000" dirty="0">
                <a:latin typeface="Baskerville" panose="02020502070401020303" pitchFamily="18" charset="0"/>
                <a:ea typeface="Baskerville" panose="02020502070401020303" pitchFamily="18" charset="0"/>
              </a:rPr>
              <a:t>M. 984491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45BE36-51A6-4519-F1FE-345A328B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2400">
                <a:latin typeface="Baskerville" panose="02020502070401020303" pitchFamily="18" charset="0"/>
                <a:ea typeface="Baskerville" panose="02020502070401020303" pitchFamily="18" charset="0"/>
              </a:rPr>
              <a:t>A. A. 2023-24</a:t>
            </a:r>
            <a:endParaRPr lang="en-IT" sz="24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5"/>
    </mc:Choice>
    <mc:Fallback xmlns="">
      <p:transition spd="slow" advTm="193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13FC-0AA3-DF50-0DFD-CB3F8714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36800"/>
            <a:ext cx="10515600" cy="1325563"/>
          </a:xfrm>
        </p:spPr>
        <p:txBody>
          <a:bodyPr>
            <a:normAutofit/>
          </a:bodyPr>
          <a:lstStyle/>
          <a:p>
            <a:r>
              <a:rPr lang="en-IT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Introduzione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4559C-79C0-7BAA-10AA-8581657CB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462363"/>
            <a:ext cx="5736000" cy="4714600"/>
          </a:xfrm>
        </p:spPr>
        <p:txBody>
          <a:bodyPr>
            <a:normAutofit lnSpcReduction="10000"/>
          </a:bodyPr>
          <a:lstStyle/>
          <a:p>
            <a:r>
              <a:rPr lang="en-GB" sz="2500" noProof="1">
                <a:latin typeface="Baskerville" panose="02020502070401020303" pitchFamily="18" charset="0"/>
                <a:ea typeface="Baskerville" panose="02020502070401020303" pitchFamily="18" charset="0"/>
              </a:rPr>
              <a:t>La diffusa presenza dei Big Data ha reso necessario sviluppare infrastrutture e tecnologie di analisi scalabili per estrarre valore da tali dati.</a:t>
            </a:r>
          </a:p>
          <a:p>
            <a:r>
              <a:rPr lang="en-GB" sz="2500" noProof="1">
                <a:latin typeface="Baskerville" panose="02020502070401020303" pitchFamily="18" charset="0"/>
                <a:ea typeface="Baskerville" panose="02020502070401020303" pitchFamily="18" charset="0"/>
              </a:rPr>
              <a:t>L'analisi dati con algoritmi di machine learning trova applicazioni in settori come la ricerca medica, la gestione delle infrastrutture critiche, la business intelligence e sempre più nella sicurezza informatica.</a:t>
            </a:r>
            <a:endParaRPr lang="en-IT" sz="2500" noProof="1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n-GB" sz="2500" noProof="1">
                <a:latin typeface="Baskerville" panose="02020502070401020303" pitchFamily="18" charset="0"/>
                <a:ea typeface="Baskerville" panose="02020502070401020303" pitchFamily="18" charset="0"/>
              </a:rPr>
              <a:t>Oltre agli algoritmi di shallow learning, i modelli di deep learning stanno ottenendo successo </a:t>
            </a:r>
            <a:r>
              <a:rPr lang="it-IT" sz="2500" noProof="1">
                <a:latin typeface="Baskerville" panose="02020502070401020303" pitchFamily="18" charset="0"/>
                <a:ea typeface="Baskerville" panose="02020502070401020303" pitchFamily="18" charset="0"/>
              </a:rPr>
              <a:t>nel campo del data mining</a:t>
            </a:r>
            <a:r>
              <a:rPr lang="en-GB" sz="2500" noProof="1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5129F-4369-2D89-8163-9F6CC004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Introduzione –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2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Picture 5" descr="A diagram of a machine learning&#10;&#10;Description automatically generated">
            <a:extLst>
              <a:ext uri="{FF2B5EF4-FFF2-40B4-BE49-F238E27FC236}">
                <a16:creationId xmlns:a16="http://schemas.microsoft.com/office/drawing/2014/main" id="{4D247588-1283-24E7-0215-83890ED1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19937"/>
            <a:ext cx="5997456" cy="4418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69396-89CF-E30F-94DD-524B70297351}"/>
              </a:ext>
            </a:extLst>
          </p:cNvPr>
          <p:cNvSpPr txBox="1"/>
          <p:nvPr/>
        </p:nvSpPr>
        <p:spPr>
          <a:xfrm>
            <a:off x="8334039" y="6023074"/>
            <a:ext cx="1521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iq.opengenus.org</a:t>
            </a: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05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26"/>
    </mc:Choice>
    <mc:Fallback xmlns="">
      <p:transition spd="slow" advTm="3702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FEAE-BA07-0E3D-3D87-FE58F273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36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Problematiche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e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tecnologie</a:t>
            </a:r>
            <a:endParaRPr lang="en-US" sz="3500" b="1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4BB2E-D396-3E12-FE31-2667CE50C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462363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Le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operazioni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richiedono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molta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potenza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computazionale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,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è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utile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parallelizzare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le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operazioni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e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distribuirle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su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cluster di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dispositivi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Esistono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molte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tecnologie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sia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per la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costruzione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modelli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ML,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sia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per la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distribuzione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della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computazione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7C3D1-8153-43D0-33BD-8BEE568F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Problematiche -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3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BA32EE-CFDC-E03C-28E9-303AA4A0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832595"/>
            <a:ext cx="4105983" cy="2132462"/>
          </a:xfrm>
          <a:prstGeom prst="rect">
            <a:avLst/>
          </a:prstGeom>
        </p:spPr>
      </p:pic>
      <p:pic>
        <p:nvPicPr>
          <p:cNvPr id="10" name="Picture 9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0CE06095-0F88-E0CC-8486-0F290754F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54" y="4185139"/>
            <a:ext cx="7039946" cy="17042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87EBE5-EAA3-77A7-E7E1-3332969660CD}"/>
              </a:ext>
            </a:extLst>
          </p:cNvPr>
          <p:cNvSpPr txBox="1"/>
          <p:nvPr/>
        </p:nvSpPr>
        <p:spPr>
          <a:xfrm>
            <a:off x="5076365" y="6116413"/>
            <a:ext cx="64713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github.com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cncf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/artwork/tree/main/projects/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kubernetes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/horizontal/all-blue-color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45FCE9-A58C-FF5D-A7A8-9582E1812D3C}"/>
              </a:ext>
            </a:extLst>
          </p:cNvPr>
          <p:cNvSpPr txBox="1"/>
          <p:nvPr/>
        </p:nvSpPr>
        <p:spPr>
          <a:xfrm>
            <a:off x="862502" y="6116413"/>
            <a:ext cx="310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apache.org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/logos/res/spark/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spark.pdf</a:t>
            </a: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74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73"/>
    </mc:Choice>
    <mc:Fallback xmlns="">
      <p:transition spd="slow" advTm="543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50A5-3CBA-D922-34DC-BA3705BD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36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Lavoro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svolto</a:t>
            </a:r>
            <a:endParaRPr lang="en-US" sz="3500" b="1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C9F6D-4B87-3E52-B286-E063D9028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94996"/>
            <a:ext cx="42780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Obiettivi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: </a:t>
            </a:r>
            <a:r>
              <a:rPr lang="en-US" sz="2500" i="1" dirty="0">
                <a:latin typeface="Baskerville" panose="02020502070401020303" pitchFamily="18" charset="0"/>
                <a:ea typeface="Baskerville" panose="02020502070401020303" pitchFamily="18" charset="0"/>
              </a:rPr>
              <a:t>refactoring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algoritmi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machine learning per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l’analisi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dati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sviluppati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come Spark tasks in Java, e </a:t>
            </a:r>
            <a:r>
              <a:rPr lang="en-US" sz="2500" i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implementazione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nuovi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algoritmi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seguendo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un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approccio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più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adatto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a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modelli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DL, con Python e la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libreria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Tensorflow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</p:txBody>
      </p:sp>
      <p:pic>
        <p:nvPicPr>
          <p:cNvPr id="8" name="Picture 7" descr="Activity Diagram">
            <a:extLst>
              <a:ext uri="{FF2B5EF4-FFF2-40B4-BE49-F238E27FC236}">
                <a16:creationId xmlns:a16="http://schemas.microsoft.com/office/drawing/2014/main" id="{BC258AB4-1A2B-FEEE-EACA-6DA8C0E3C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188764" cy="729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4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459"/>
    </mc:Choice>
    <mc:Fallback xmlns="">
      <p:transition spd="slow" advTm="8345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A6A-9965-DE0C-7523-165C83A7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36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Analisi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e refactoring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7063-6FF3-9A17-7E12-03702D99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90688"/>
            <a:ext cx="6251713" cy="4351338"/>
          </a:xfrm>
        </p:spPr>
        <p:txBody>
          <a:bodyPr>
            <a:normAutofit/>
          </a:bodyPr>
          <a:lstStyle/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Analisi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task Spark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originariamente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implementati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nell’ambito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del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progetto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EVOTION</a:t>
            </a:r>
            <a:r>
              <a:rPr lang="en-US" sz="2500" baseline="30000" dirty="0"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Costruzione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un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progetto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autonomo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, con Apache Maven, per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ogni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algoritmo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selezionato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Risoluzione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delle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dipendenze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Aggiornamento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della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versione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Spark.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Generazione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del file </a:t>
            </a:r>
            <a:r>
              <a:rPr lang="en-US" sz="2500" i="1" dirty="0">
                <a:latin typeface="Baskerville" panose="02020502070401020303" pitchFamily="18" charset="0"/>
                <a:ea typeface="Baskerville" panose="02020502070401020303" pitchFamily="18" charset="0"/>
              </a:rPr>
              <a:t>uber jar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9356-224F-561E-2997-EF7F64A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Contributo -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5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E8790-85E3-D35B-8A46-0439269F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1609" y="6356350"/>
            <a:ext cx="10253870" cy="365125"/>
          </a:xfrm>
        </p:spPr>
        <p:txBody>
          <a:bodyPr/>
          <a:lstStyle/>
          <a:p>
            <a:pPr algn="l"/>
            <a:r>
              <a:rPr lang="en-GB" dirty="0"/>
              <a:t>1 - </a:t>
            </a:r>
            <a:r>
              <a:rPr lang="en-GB" dirty="0" err="1"/>
              <a:t>Anisetti</a:t>
            </a:r>
            <a:r>
              <a:rPr lang="en-GB" dirty="0"/>
              <a:t> et al. (2018), BDA Engine, Deliverable D5.5 to the EVOTION-727521 Project funded by the European Union, UNIMI, Italy</a:t>
            </a:r>
            <a:endParaRPr lang="en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CF504-7CBB-D9FA-437F-D14D352F3576}"/>
              </a:ext>
            </a:extLst>
          </p:cNvPr>
          <p:cNvSpPr txBox="1"/>
          <p:nvPr/>
        </p:nvSpPr>
        <p:spPr>
          <a:xfrm>
            <a:off x="5617800" y="724039"/>
            <a:ext cx="8891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&lt;plugin&gt; 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artifactId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maven-assembly-plugin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artifactId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&lt;configuration&gt; </a:t>
            </a:r>
            <a:endParaRPr lang="en-GB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&lt;archive&gt;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&lt;manifest&gt;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addClasspath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&gt;true&lt;/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addClasspath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mainClass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it.unimi.evotion.tasks.kmeans.Kmeans</a:t>
            </a:r>
            <a:endParaRPr lang="en-GB" dirty="0">
              <a:solidFill>
                <a:schemeClr val="bg2">
                  <a:lumMod val="50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mainClass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&lt;/manifest&gt; 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&lt;/archive&gt; 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descriptorRefs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descriptorRef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jar-with-dependencies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descriptorRef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descriptorRefs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GB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&lt;/configuration&gt; 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&lt;/plugin&gt;</a:t>
            </a:r>
            <a:endParaRPr lang="en-US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 descr="A colorful feather on a black background&#10;&#10;Description automatically generated">
            <a:extLst>
              <a:ext uri="{FF2B5EF4-FFF2-40B4-BE49-F238E27FC236}">
                <a16:creationId xmlns:a16="http://schemas.microsoft.com/office/drawing/2014/main" id="{71B51380-8BAD-7673-C51E-F655E7292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134" y="526531"/>
            <a:ext cx="2159000" cy="546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6DA5A8-04D6-A906-6C48-11934DA55EA0}"/>
              </a:ext>
            </a:extLst>
          </p:cNvPr>
          <p:cNvSpPr txBox="1"/>
          <p:nvPr/>
        </p:nvSpPr>
        <p:spPr>
          <a:xfrm>
            <a:off x="9172523" y="218754"/>
            <a:ext cx="1619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maven.apache.org</a:t>
            </a: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89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77"/>
    </mc:Choice>
    <mc:Fallback xmlns="">
      <p:transition spd="slow" advTm="5397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A6A-9965-DE0C-7523-165C83A7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136800"/>
            <a:ext cx="11167971" cy="1325563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Studio e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implementazione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servizi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7063-6FF3-9A17-7E12-03702D99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90688"/>
            <a:ext cx="6564086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Convolutional Neural Network per il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riconoscimento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carateri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numerici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scritti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a mano.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Distribuzione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della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computazione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con </a:t>
            </a:r>
            <a:r>
              <a:rPr lang="en-US" sz="2500" i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Tensorflow</a:t>
            </a:r>
            <a:r>
              <a:rPr lang="en-US" sz="2500" i="1" dirty="0">
                <a:latin typeface="Baskerville" panose="02020502070401020303" pitchFamily="18" charset="0"/>
                <a:ea typeface="Baskerville" panose="02020502070401020303" pitchFamily="18" charset="0"/>
              </a:rPr>
              <a:t> distribute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Strategia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distribuzione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MultiworkerMirroredStrategy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Integrazione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con cluster Spark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attraverso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spark_tensorflow_distributor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pPr lvl="1"/>
            <a:r>
              <a:rPr lang="en-US" sz="25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MirroredStrategyRunner.run</a:t>
            </a:r>
            <a:r>
              <a:rPr lang="en-US" sz="25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()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9356-224F-561E-2997-EF7F64A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Contributo -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6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F8382-FC14-FDB0-CA98-A9C3B2C4E4D0}"/>
              </a:ext>
            </a:extLst>
          </p:cNvPr>
          <p:cNvSpPr txBox="1"/>
          <p:nvPr/>
        </p:nvSpPr>
        <p:spPr>
          <a:xfrm>
            <a:off x="8138586" y="1645265"/>
            <a:ext cx="368722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TF_CONFIG=’{</a:t>
            </a:r>
          </a:p>
          <a:p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"cluster": {</a:t>
            </a:r>
          </a:p>
          <a:p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"worker": [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"worker-0:2222",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"worker-1:2222",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"worker-2:2222”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}, </a:t>
            </a: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"task": {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"type": "worker",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"index": 0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}’ </a:t>
            </a: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13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978"/>
    </mc:Choice>
    <mc:Fallback xmlns="">
      <p:transition spd="slow" advTm="7597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A6A-9965-DE0C-7523-165C83A7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36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Esecuzione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dei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servizi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in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ambiente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distribuito</a:t>
            </a:r>
            <a:endParaRPr lang="en-US" sz="3200" b="1" dirty="0">
              <a:solidFill>
                <a:schemeClr val="bg2">
                  <a:lumMod val="5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7063-6FF3-9A17-7E12-03702D99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744848"/>
            <a:ext cx="10515600" cy="3328081"/>
          </a:xfrm>
        </p:spPr>
        <p:txBody>
          <a:bodyPr>
            <a:normAutofit/>
          </a:bodyPr>
          <a:lstStyle/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Creazione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del cluster e setup </a:t>
            </a:r>
            <a:r>
              <a:rPr lang="en-US" sz="25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kubectl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Configurazione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Elastic MapReduce (EMR).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Configurazione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dell’Identity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Provider.</a:t>
            </a:r>
          </a:p>
          <a:p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Definizione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della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policy per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l’accesso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a S3.</a:t>
            </a:r>
          </a:p>
          <a:p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Policy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associata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a IAM Role.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9356-224F-561E-2997-EF7F64A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Contributo -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7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32C60-B300-2944-B5D0-880468090205}"/>
              </a:ext>
            </a:extLst>
          </p:cNvPr>
          <p:cNvSpPr txBox="1"/>
          <p:nvPr/>
        </p:nvSpPr>
        <p:spPr>
          <a:xfrm>
            <a:off x="360000" y="3144684"/>
            <a:ext cx="742164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 err="1">
                <a:solidFill>
                  <a:schemeClr val="bg2">
                    <a:lumMod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Configurazione</a:t>
            </a:r>
            <a:r>
              <a:rPr lang="en-US" sz="3300" b="1" dirty="0">
                <a:solidFill>
                  <a:schemeClr val="bg2">
                    <a:lumMod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del cluster AWS EKS</a:t>
            </a:r>
            <a:endParaRPr lang="en-US" sz="3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C0E30-FAC4-E17A-B719-6EA391AFEDEB}"/>
              </a:ext>
            </a:extLst>
          </p:cNvPr>
          <p:cNvSpPr txBox="1"/>
          <p:nvPr/>
        </p:nvSpPr>
        <p:spPr>
          <a:xfrm>
            <a:off x="360000" y="1051453"/>
            <a:ext cx="538102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solidFill>
                  <a:schemeClr val="bg2">
                    <a:lumMod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Cluster Kubernetes locale</a:t>
            </a:r>
            <a:endParaRPr lang="en-US" sz="3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734B3-E590-CB4D-32F2-32C9D25BC253}"/>
              </a:ext>
            </a:extLst>
          </p:cNvPr>
          <p:cNvSpPr txBox="1"/>
          <p:nvPr/>
        </p:nvSpPr>
        <p:spPr>
          <a:xfrm>
            <a:off x="360000" y="1575024"/>
            <a:ext cx="6637651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Creazione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immagine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Docker.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Configurazione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del cluster con Docker Desktop.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spark-submit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verso il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l’API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Server.</a:t>
            </a:r>
          </a:p>
        </p:txBody>
      </p:sp>
      <p:pic>
        <p:nvPicPr>
          <p:cNvPr id="9" name="Picture 8" descr="A diagram of an application&#10;&#10;Description automatically generated">
            <a:extLst>
              <a:ext uri="{FF2B5EF4-FFF2-40B4-BE49-F238E27FC236}">
                <a16:creationId xmlns:a16="http://schemas.microsoft.com/office/drawing/2014/main" id="{393536B4-9682-B4D4-AE93-BCAA859BF0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53" t="3159" r="29589" b="5893"/>
          <a:stretch/>
        </p:blipFill>
        <p:spPr>
          <a:xfrm>
            <a:off x="7784134" y="1085691"/>
            <a:ext cx="4407866" cy="48643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48DC3E-3562-2707-B5CB-CBF60A90E265}"/>
              </a:ext>
            </a:extLst>
          </p:cNvPr>
          <p:cNvSpPr txBox="1"/>
          <p:nvPr/>
        </p:nvSpPr>
        <p:spPr>
          <a:xfrm>
            <a:off x="8987280" y="5999292"/>
            <a:ext cx="1989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2">
                    <a:lumMod val="75000"/>
                  </a:schemeClr>
                </a:solidFill>
              </a:rPr>
              <a:t>docs.aws.amazon.com</a:t>
            </a: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3" name="Picture 12" descr="A diagram of a control plane&#10;&#10;Description automatically generated">
            <a:extLst>
              <a:ext uri="{FF2B5EF4-FFF2-40B4-BE49-F238E27FC236}">
                <a16:creationId xmlns:a16="http://schemas.microsoft.com/office/drawing/2014/main" id="{1808E61C-80E4-956A-FE62-D38FB4244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888" y="1085691"/>
            <a:ext cx="4485112" cy="53183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702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289"/>
    </mc:Choice>
    <mc:Fallback xmlns="">
      <p:transition spd="slow" advTm="1142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A6A-9965-DE0C-7523-165C83A7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36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Esecuzione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dei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servizi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in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ambiente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distribuito</a:t>
            </a:r>
            <a:endParaRPr lang="en-US" sz="3500" b="1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9356-224F-561E-2997-EF7F64A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Contributo -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8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Picture 4" descr="A diagram of a docker hub&#10;&#10;Description automatically generated">
            <a:extLst>
              <a:ext uri="{FF2B5EF4-FFF2-40B4-BE49-F238E27FC236}">
                <a16:creationId xmlns:a16="http://schemas.microsoft.com/office/drawing/2014/main" id="{140780B3-4A0E-44A9-DAAC-31B8E5C80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990" y="1069665"/>
            <a:ext cx="7002019" cy="5788335"/>
          </a:xfrm>
          <a:prstGeom prst="rect">
            <a:avLst/>
          </a:prstGeom>
        </p:spPr>
      </p:pic>
      <p:pic>
        <p:nvPicPr>
          <p:cNvPr id="6" name="Content Placeholder 5" descr="A diagram of a computer&#10;&#10;Description automatically generated">
            <a:extLst>
              <a:ext uri="{FF2B5EF4-FFF2-40B4-BE49-F238E27FC236}">
                <a16:creationId xmlns:a16="http://schemas.microsoft.com/office/drawing/2014/main" id="{76BE5202-B209-2D5E-4EDC-C564FC5D9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75563" y="971693"/>
            <a:ext cx="11356437" cy="5469247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092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06"/>
    </mc:Choice>
    <mc:Fallback xmlns="">
      <p:transition spd="slow" advTm="947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A6A-9965-DE0C-7523-165C83A7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73" y="137583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Deployment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59465F6A-8F69-7237-758C-317AD0604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2072" y="2466925"/>
            <a:ext cx="9939928" cy="404681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9356-224F-561E-2997-EF7F64A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Contributo -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9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5597F-90D9-5CF2-11AF-9E44E44CF175}"/>
              </a:ext>
            </a:extLst>
          </p:cNvPr>
          <p:cNvSpPr txBox="1"/>
          <p:nvPr/>
        </p:nvSpPr>
        <p:spPr>
          <a:xfrm>
            <a:off x="359873" y="1192376"/>
            <a:ext cx="5345053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Cluster Kubernetes Progetto MUSA</a:t>
            </a:r>
            <a:r>
              <a:rPr lang="en-US" sz="2500" baseline="30000" dirty="0">
                <a:latin typeface="Baskerville" panose="02020502070401020303" pitchFamily="18" charset="0"/>
                <a:ea typeface="Baskerville" panose="02020502070401020303" pitchFamily="18" charset="0"/>
              </a:rPr>
              <a:t>1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Autenticazione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RBAC con Rancher.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Configurazione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kubectl</a:t>
            </a:r>
            <a:r>
              <a:rPr lang="en-US" sz="25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  <a:cs typeface="Courier New" panose="02070309020205020404" pitchFamily="49" charset="0"/>
              </a:rPr>
              <a:t>Avvio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  <a:cs typeface="Courier New" panose="02070309020205020404" pitchFamily="49" charset="0"/>
              </a:rPr>
              <a:t> proxy.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Deployment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nel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namespace “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musa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”.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3EC99-CE4C-4A8D-20BB-97160C81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9101728" cy="365125"/>
          </a:xfrm>
        </p:spPr>
        <p:txBody>
          <a:bodyPr/>
          <a:lstStyle/>
          <a:p>
            <a:pPr algn="l"/>
            <a:r>
              <a:rPr lang="en-GB" dirty="0"/>
              <a:t>1 - </a:t>
            </a:r>
            <a:r>
              <a:rPr lang="en-GB" dirty="0">
                <a:hlinkClick r:id="rId4"/>
              </a:rPr>
              <a:t>https://musascarl.it</a:t>
            </a:r>
            <a:r>
              <a:rPr lang="en-GB" dirty="0"/>
              <a:t> — Spoke 2: "Big Data-Open Data in Life Sciences"- WP1 "Edge and Network Infrastructure"</a:t>
            </a:r>
            <a:endParaRPr lang="en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27A00-721C-776F-1A0E-EE8B7FAC0364}"/>
              </a:ext>
            </a:extLst>
          </p:cNvPr>
          <p:cNvSpPr txBox="1"/>
          <p:nvPr/>
        </p:nvSpPr>
        <p:spPr>
          <a:xfrm>
            <a:off x="1040770" y="3364958"/>
            <a:ext cx="1011046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spark-submit \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GB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master k8s://http://127.0.0.1:8001 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--deploy-mode cluster \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--name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lr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--class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it.unimi.evotion.tasks.lr.LReg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--conf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spark.kubernetes.container.image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gabrielestentella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spark:lramd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--conf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spark.kubernetes.driver.pod.name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lrsparkdriver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--conf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spark.kubernetes.</a:t>
            </a:r>
            <a:r>
              <a:rPr lang="en-GB" sz="18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GB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musa</a:t>
            </a:r>
            <a:r>
              <a:rPr lang="en-GB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--conf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spark.kubernetes.authenticate.driver.</a:t>
            </a:r>
            <a:r>
              <a:rPr lang="en-GB" sz="18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serviceAccountName</a:t>
            </a:r>
            <a:r>
              <a:rPr lang="en-GB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=spark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456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454"/>
    </mc:Choice>
    <mc:Fallback xmlns="">
      <p:transition spd="slow" advTm="624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A6A-9965-DE0C-7523-165C83A7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36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Testing -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servizi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7063-6FF3-9A17-7E12-03702D99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404000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EKS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StartJobRun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crea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un Pod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interno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al cluster;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Spark master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richiede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risorse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a Kubernetes,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quindi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viene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creato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un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numero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Pod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pari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al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numero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executors;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L’indirizzo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IP di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ciascun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executor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viene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registrato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Spark master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assegna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l’esecuzione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un task a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ciascun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executor;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A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lavoro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concluso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gli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executors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terminano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, il Pod Spark driver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entra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nello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US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stato</a:t>
            </a:r>
            <a:r>
              <a:rPr lang="en-US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“completed”.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9356-224F-561E-2997-EF7F64A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Contributo -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10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CC7DC-602C-0F38-A0A8-5A56D27D9943}"/>
              </a:ext>
            </a:extLst>
          </p:cNvPr>
          <p:cNvSpPr txBox="1"/>
          <p:nvPr/>
        </p:nvSpPr>
        <p:spPr>
          <a:xfrm>
            <a:off x="360000" y="5571521"/>
            <a:ext cx="10248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effectLst/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24/03/02 08:11:55 INFO </a:t>
            </a:r>
            <a:r>
              <a:rPr lang="en-GB" sz="1800" dirty="0" err="1">
                <a:effectLst/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ExecutorPodsAllocator</a:t>
            </a:r>
            <a:r>
              <a:rPr lang="en-GB" sz="1800" dirty="0">
                <a:effectLst/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: Going to request 4 </a:t>
            </a:r>
            <a:endParaRPr lang="en-GB" dirty="0">
              <a:effectLst/>
              <a:latin typeface="Courier New" panose="02070309020205020404" pitchFamily="49" charset="0"/>
              <a:ea typeface="Baskerville" panose="02020502070401020303" pitchFamily="18" charset="0"/>
              <a:cs typeface="Courier New" panose="02070309020205020404" pitchFamily="49" charset="0"/>
            </a:endParaRPr>
          </a:p>
          <a:p>
            <a:r>
              <a:rPr lang="en-GB" sz="1800" dirty="0">
                <a:effectLst/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executors from Kubernetes for </a:t>
            </a:r>
            <a:r>
              <a:rPr lang="en-GB" sz="1800" dirty="0" err="1">
                <a:effectLst/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ResourceProfile</a:t>
            </a:r>
            <a:r>
              <a:rPr lang="en-GB" sz="1800" dirty="0">
                <a:effectLst/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 Id: 0, target: 5, known : 0</a:t>
            </a:r>
            <a:endParaRPr lang="en-GB" dirty="0">
              <a:effectLst/>
              <a:latin typeface="Courier New" panose="02070309020205020404" pitchFamily="49" charset="0"/>
              <a:ea typeface="Baskerville" panose="02020502070401020303" pitchFamily="18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40CC3B-40DF-9F3E-E63D-D8542894FBA7}"/>
              </a:ext>
            </a:extLst>
          </p:cNvPr>
          <p:cNvSpPr txBox="1"/>
          <p:nvPr/>
        </p:nvSpPr>
        <p:spPr>
          <a:xfrm>
            <a:off x="360000" y="5476820"/>
            <a:ext cx="11626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24/03/02 08:12:02 INFO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KubernetesClusterSchedulerBackend$KubernetesDriverEndpoint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Registered executor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NettyRpcEndpointRef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(spark-client://Executor) 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(192.168.3.216:50974) with ID 1</a:t>
            </a:r>
            <a:endParaRPr lang="en-GB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018B3-CC9E-4735-728A-1D8E0FA76F9A}"/>
              </a:ext>
            </a:extLst>
          </p:cNvPr>
          <p:cNvSpPr txBox="1"/>
          <p:nvPr/>
        </p:nvSpPr>
        <p:spPr>
          <a:xfrm>
            <a:off x="360000" y="5571518"/>
            <a:ext cx="10799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24/03/02 08:12:05 INFO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TaskSetManager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Starting task 0.0 in stage 0.0 ( </a:t>
            </a:r>
            <a:endParaRPr lang="en-GB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TID 0) (192.168.58.9, executor 2, partition 0, PROCESS_LOCAL, 1007791 bytes) </a:t>
            </a:r>
            <a:endParaRPr lang="en-GB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21D91-1058-B730-2123-EF0EDB82E3B2}"/>
              </a:ext>
            </a:extLst>
          </p:cNvPr>
          <p:cNvSpPr txBox="1"/>
          <p:nvPr/>
        </p:nvSpPr>
        <p:spPr>
          <a:xfrm>
            <a:off x="360000" y="5750908"/>
            <a:ext cx="11075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24/03/02 08:12:08 INFO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SparkContext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SparkContext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is stopping with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exitCode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0.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90C61-34CD-4282-661D-CDBB971F74A8}"/>
              </a:ext>
            </a:extLst>
          </p:cNvPr>
          <p:cNvSpPr txBox="1"/>
          <p:nvPr/>
        </p:nvSpPr>
        <p:spPr>
          <a:xfrm>
            <a:off x="360000" y="5571518"/>
            <a:ext cx="8180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24/03/02 08:12:08 INFO </a:t>
            </a:r>
            <a:r>
              <a:rPr lang="en-GB" sz="18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KubernetesClusterSchedulerBackend</a:t>
            </a:r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r>
              <a:rPr lang="en-GB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Shutting down all executors 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39"/>
    </mc:Choice>
    <mc:Fallback xmlns="">
      <p:transition spd="slow" advTm="459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A6A-9965-DE0C-7523-165C83A7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36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Testing - </a:t>
            </a:r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servizi</a:t>
            </a:r>
            <a:r>
              <a:rPr lang="en-US" sz="3500" b="1" dirty="0">
                <a:latin typeface="Baskerville" panose="02020502070401020303" pitchFamily="18" charset="0"/>
                <a:ea typeface="Baskerville" panose="02020502070401020303" pitchFamily="18" charset="0"/>
              </a:rPr>
              <a:t>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7063-6FF3-9A17-7E12-03702D99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462363"/>
            <a:ext cx="10515600" cy="467314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I 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tensorflow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/core/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distributed_runtime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rpc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grpc_server</a:t>
            </a:r>
            <a:b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_lib.cc:449] </a:t>
            </a:r>
            <a:r>
              <a:rPr lang="en-US" sz="2000" b="1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Started server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 with target: 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grpc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://</a:t>
            </a:r>
            <a:r>
              <a:rPr lang="en-US" sz="2000" b="1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worker0:2222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I 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tensorflow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tsl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distributed_runtime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/coordination/coordination</a:t>
            </a:r>
            <a:b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_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service.cc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 :535] 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job:</a:t>
            </a:r>
            <a:r>
              <a:rPr lang="en-US" sz="2000" b="1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worker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/replica:0/</a:t>
            </a:r>
            <a:r>
              <a:rPr lang="en-US" sz="2000" b="1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task:0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has connected to coordination service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. Incarnation: 2448655666425437712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I 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tensorflow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tsl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distributed_runtime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/coordination/ coordination_service_agent.cc:298] Coordination agent has successfully connected.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I 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tensorflow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tsl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distributed_runtime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/coordination/coordination</a:t>
            </a:r>
            <a:b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_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service.cc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 :535] 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job:</a:t>
            </a:r>
            <a:r>
              <a:rPr lang="en-US" sz="2000" b="1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worker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/replica:0/</a:t>
            </a:r>
            <a:r>
              <a:rPr lang="en-US" sz="2000" b="1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task:1 has connected to coordination service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. Incarnation: 16697895956226192157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I 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tensorflow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tsl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distributed_runtime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/coordination/coordination</a:t>
            </a:r>
            <a:b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_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service.cc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 :535] /</a:t>
            </a:r>
            <a:r>
              <a:rPr lang="en-US" sz="2000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job:</a:t>
            </a:r>
            <a:r>
              <a:rPr lang="en-US" sz="2000" b="1" dirty="0" err="1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worker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/replica:0/</a:t>
            </a:r>
            <a:r>
              <a:rPr lang="en-US" sz="2000" b="1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task:2 has connected to coordination service</a:t>
            </a:r>
            <a:r>
              <a:rPr lang="en-US" sz="2000" dirty="0">
                <a:latin typeface="Courier New" panose="02070309020205020404" pitchFamily="49" charset="0"/>
                <a:ea typeface="Baskerville" panose="02020502070401020303" pitchFamily="18" charset="0"/>
                <a:cs typeface="Courier New" panose="02070309020205020404" pitchFamily="49" charset="0"/>
              </a:rPr>
              <a:t>. Incarnation: 6829625911175341699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9356-224F-561E-2997-EF7F64A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Contributo -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11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41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44"/>
    </mc:Choice>
    <mc:Fallback xmlns="">
      <p:transition spd="slow" advTm="2574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A6A-9965-DE0C-7523-165C83A7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36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Conclusioni</a:t>
            </a:r>
            <a:endParaRPr lang="en-US" sz="3500" b="1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B7063-6FF3-9A17-7E12-03702D99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253330"/>
            <a:ext cx="11472000" cy="5103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Il </a:t>
            </a:r>
            <a:r>
              <a:rPr lang="en-GB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lavoro</a:t>
            </a:r>
            <a:r>
              <a:rPr lang="en-GB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svolto</a:t>
            </a:r>
            <a:r>
              <a:rPr lang="en-GB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in </a:t>
            </a:r>
            <a:r>
              <a:rPr lang="en-GB" sz="2500" b="1" dirty="0">
                <a:latin typeface="Baskerville" panose="02020502070401020303" pitchFamily="18" charset="0"/>
                <a:ea typeface="Baskerville" panose="02020502070401020303" pitchFamily="18" charset="0"/>
              </a:rPr>
              <a:t>4 </a:t>
            </a:r>
            <a:r>
              <a:rPr lang="en-GB" sz="2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macrofasi</a:t>
            </a:r>
            <a:r>
              <a:rPr lang="en-GB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R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ecupero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algoritmi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Spark pre-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esistenti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  <a:endParaRPr lang="en-GB" sz="25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S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viluppo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di un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modello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in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Tensorflow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  <a:endParaRPr lang="en-GB" sz="25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E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secuzione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dei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modelli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su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differenti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architetture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distribuite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  <a:endParaRPr lang="en-GB" sz="25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V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alutazione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delle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performance.</a:t>
            </a:r>
          </a:p>
          <a:p>
            <a:pPr marL="457200" indent="-457200">
              <a:buFont typeface="+mj-lt"/>
              <a:buAutoNum type="arabicPeriod"/>
            </a:pPr>
            <a:endParaRPr lang="en-GB" sz="25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indent="0">
              <a:buNone/>
            </a:pP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Si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è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mostrato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un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metodo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per la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costruzion</a:t>
            </a:r>
            <a:r>
              <a:rPr lang="en-GB" sz="25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e</a:t>
            </a:r>
            <a:r>
              <a:rPr lang="en-GB" sz="2500" dirty="0"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sistemi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complessi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per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l’analisi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di Big Data:</a:t>
            </a:r>
          </a:p>
          <a:p>
            <a:r>
              <a:rPr lang="en-GB" sz="2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R</a:t>
            </a:r>
            <a:r>
              <a:rPr lang="en-GB" sz="2500" b="1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iuso</a:t>
            </a:r>
            <a:r>
              <a:rPr lang="en-GB" sz="2500" b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del </a:t>
            </a:r>
            <a:r>
              <a:rPr lang="en-GB" sz="2500" b="1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codice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di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modelli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gia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̀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implementati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.</a:t>
            </a:r>
            <a:endParaRPr lang="en-GB" sz="25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n-GB" sz="2500" b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D</a:t>
            </a:r>
            <a:r>
              <a:rPr lang="en-GB" sz="2500" b="1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isaccoppiamento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fra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codice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ed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infrastruttura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n-GB" sz="2500" dirty="0" err="1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distribuita</a:t>
            </a:r>
            <a:r>
              <a:rPr lang="en-GB" sz="25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con Kubernetes.</a:t>
            </a:r>
            <a:endParaRPr lang="en-GB" sz="25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9356-224F-561E-2997-EF7F64A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T">
                <a:solidFill>
                  <a:schemeClr val="bg2">
                    <a:lumMod val="75000"/>
                  </a:schemeClr>
                </a:solidFill>
              </a:rPr>
              <a:t>Contributo - </a:t>
            </a:r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12</a:t>
            </a:fld>
            <a:endParaRPr lang="en-IT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07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26"/>
    </mc:Choice>
    <mc:Fallback xmlns="">
      <p:transition spd="slow" advTm="3922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A6A-9965-DE0C-7523-165C83A7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105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Grazie</a:t>
            </a:r>
            <a:endParaRPr lang="en-US" sz="60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9356-224F-561E-2997-EF7F64A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6FB3-71C4-1344-BD14-26986863CD6D}" type="slidenum">
              <a:rPr lang="en-IT" smtClean="0">
                <a:solidFill>
                  <a:schemeClr val="bg2">
                    <a:lumMod val="75000"/>
                  </a:schemeClr>
                </a:solidFill>
              </a:rPr>
              <a:t>13</a:t>
            </a:fld>
            <a:endParaRPr lang="en-IT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7E4C787-AE51-663C-392F-F76CB290BDDB}"/>
              </a:ext>
            </a:extLst>
          </p:cNvPr>
          <p:cNvSpPr txBox="1">
            <a:spLocks/>
          </p:cNvSpPr>
          <p:nvPr/>
        </p:nvSpPr>
        <p:spPr>
          <a:xfrm>
            <a:off x="484414" y="4621894"/>
            <a:ext cx="11223171" cy="1734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 dirty="0">
                <a:latin typeface="Baskerville" panose="02020502070401020303" pitchFamily="18" charset="0"/>
                <a:ea typeface="Baskerville" panose="02020502070401020303" pitchFamily="18" charset="0"/>
              </a:rPr>
              <a:t>Relatore</a:t>
            </a:r>
            <a: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  <a:t>				          				         </a:t>
            </a:r>
            <a:r>
              <a:rPr lang="en-IT" b="1" dirty="0">
                <a:latin typeface="Baskerville" panose="02020502070401020303" pitchFamily="18" charset="0"/>
                <a:ea typeface="Baskerville" panose="02020502070401020303" pitchFamily="18" charset="0"/>
              </a:rPr>
              <a:t>Correlatori</a:t>
            </a:r>
          </a:p>
          <a:p>
            <a:pPr marL="0" indent="0">
              <a:buNone/>
            </a:pPr>
            <a: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  <a:t>Prof. Claudio A. Ardagna 				        Prof. Marco Anisetti</a:t>
            </a:r>
            <a:b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</a:br>
            <a:r>
              <a:rPr lang="en-IT" dirty="0">
                <a:latin typeface="Baskerville" panose="02020502070401020303" pitchFamily="18" charset="0"/>
                <a:ea typeface="Baskerville" panose="02020502070401020303" pitchFamily="18" charset="0"/>
              </a:rPr>
              <a:t>							  Dott. Antongiacomo Polimeno</a:t>
            </a:r>
          </a:p>
        </p:txBody>
      </p:sp>
    </p:spTree>
    <p:extLst>
      <p:ext uri="{BB962C8B-B14F-4D97-AF65-F5344CB8AC3E}">
        <p14:creationId xmlns:p14="http://schemas.microsoft.com/office/powerpoint/2010/main" val="36495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"/>
    </mc:Choice>
    <mc:Fallback xmlns="">
      <p:transition spd="slow" advTm="56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8|4.9|4|4.8|1.9|4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4700</TotalTime>
  <Words>1211</Words>
  <Application>Microsoft Macintosh PowerPoint</Application>
  <PresentationFormat>Widescreen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Baskerville</vt:lpstr>
      <vt:lpstr>Courier New</vt:lpstr>
      <vt:lpstr>Office Theme</vt:lpstr>
      <vt:lpstr>Refactoring e implementazione di servizi di Machine Learning per l’analisi dati in un contesto distribuito basato su Kubernetes</vt:lpstr>
      <vt:lpstr>Introduzione</vt:lpstr>
      <vt:lpstr>Problematiche e tecnologie</vt:lpstr>
      <vt:lpstr>Lavoro svolto</vt:lpstr>
      <vt:lpstr>Analisi e refactoring</vt:lpstr>
      <vt:lpstr>Studio e implementazione di servizi Deep Learning</vt:lpstr>
      <vt:lpstr>Esecuzione dei servizi in ambiente distribuito</vt:lpstr>
      <vt:lpstr>Esecuzione dei servizi in ambiente distribuito</vt:lpstr>
      <vt:lpstr>Deployment</vt:lpstr>
      <vt:lpstr>Testing - servizi Java</vt:lpstr>
      <vt:lpstr>Testing - servizi Python</vt:lpstr>
      <vt:lpstr>Conclusioni</vt:lpstr>
      <vt:lpstr>Grazie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Stentella</dc:creator>
  <cp:lastModifiedBy>Gabriele Stentella</cp:lastModifiedBy>
  <cp:revision>13</cp:revision>
  <dcterms:created xsi:type="dcterms:W3CDTF">2024-06-27T11:56:31Z</dcterms:created>
  <dcterms:modified xsi:type="dcterms:W3CDTF">2024-07-14T14:58:02Z</dcterms:modified>
</cp:coreProperties>
</file>